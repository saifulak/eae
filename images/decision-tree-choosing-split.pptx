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80"/>
    <p:restoredTop sz="94567"/>
  </p:normalViewPr>
  <p:slideViewPr>
    <p:cSldViewPr snapToGrid="0" snapToObjects="1">
      <p:cViewPr varScale="1">
        <p:scale>
          <a:sx n="84" d="100"/>
          <a:sy n="84" d="100"/>
        </p:scale>
        <p:origin x="2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0F470-10F5-C948-81FA-ADD7C4B573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52EB5D-F0D4-3E4E-A2EA-CFBD3C898A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C8E32-2933-E242-B04E-BA6655285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9CF2-E7FB-5244-BEB6-DA26166E2094}" type="datetimeFigureOut">
              <a:rPr lang="en-US" smtClean="0"/>
              <a:t>2/27/19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2C8D5-6B77-B74E-9658-5A1B6DB51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959AC-88ED-1746-B8F4-9F8BCC245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8676-B600-1E42-9774-C49DC1345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766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0045B-B614-ED4F-A452-3B9E15043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88D81-40F1-F44C-8FDF-1271E4BF5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0461D-9156-094A-8BF7-06CE38C06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9CF2-E7FB-5244-BEB6-DA26166E2094}" type="datetimeFigureOut">
              <a:rPr lang="en-US" smtClean="0"/>
              <a:t>2/27/19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97640-166A-B84E-B66B-32175DE0A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2B1FD-AC39-394C-AEE9-C0D155855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8676-B600-1E42-9774-C49DC1345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765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CF8DD-028F-554F-91A8-E3F37CD64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0B593A-46BF-F942-9422-69170CBC3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081A4-3099-084D-BAB8-1E70643B4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9CF2-E7FB-5244-BEB6-DA26166E2094}" type="datetimeFigureOut">
              <a:rPr lang="en-US" smtClean="0"/>
              <a:t>2/27/19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503AB-433F-CA4E-9BC5-0E042B4BB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57BD0-0C19-7749-A639-3A058FE18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8676-B600-1E42-9774-C49DC1345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851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8B58F-5E51-2549-B225-580E90E36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195C3-80C0-134C-9690-8405407F1B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7201CA-4AFB-9B40-90FE-B7085A46B6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4E5870-F38D-A648-A2ED-BAA4986CA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9CF2-E7FB-5244-BEB6-DA26166E2094}" type="datetimeFigureOut">
              <a:rPr lang="en-US" smtClean="0"/>
              <a:t>2/27/19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273ADE-C753-9140-82DF-A097BA2E6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ABC66D-943B-E944-AD70-6C6C53F5D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8676-B600-1E42-9774-C49DC1345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979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259F0-3143-564E-8E4D-5B4E0F317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70B43-3244-704D-AEE9-53CE2B927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3F9D9C-2520-FD4A-A69A-09A10B8AB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151A9B-19F5-3F48-A13D-B771E043D7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E9D8C5-9D0D-BB43-A99F-28C97550AE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41E32C-60DE-8A4E-900E-ED00B6948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9CF2-E7FB-5244-BEB6-DA26166E2094}" type="datetimeFigureOut">
              <a:rPr lang="en-US" smtClean="0"/>
              <a:t>2/27/19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6C30B2-70CE-6149-BEF4-DA48324B3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21399A-1BBC-8D4C-A1A9-796FEA1ED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8676-B600-1E42-9774-C49DC1345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553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4EEF2-DD0F-124D-9E3E-26978CFE3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AE24F8-CB8A-CC44-9DAA-E32F2B988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9CF2-E7FB-5244-BEB6-DA26166E2094}" type="datetimeFigureOut">
              <a:rPr lang="en-US" smtClean="0"/>
              <a:t>2/27/19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430680-FEDE-BB43-A9F4-0956A26E2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0E396C-6314-1E45-9FA4-B4D59D5BD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8676-B600-1E42-9774-C49DC1345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956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D56F17-360F-EE4D-A2C5-806017C8E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9CF2-E7FB-5244-BEB6-DA26166E2094}" type="datetimeFigureOut">
              <a:rPr lang="en-US" smtClean="0"/>
              <a:t>2/27/19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87A896-ED04-DE47-A40B-A7112AC6C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E2D76-98B7-8347-B522-67A08FE94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8676-B600-1E42-9774-C49DC1345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881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BE099-AA9A-D94E-935A-EF24175DB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9FE72-F81E-7B41-B1E6-DE533B142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4E4DBD-36FB-2D47-890D-EE432A6BA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9DB8A2-2F4D-DD4A-A79F-90EBDA989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9CF2-E7FB-5244-BEB6-DA26166E2094}" type="datetimeFigureOut">
              <a:rPr lang="en-US" smtClean="0"/>
              <a:t>2/27/19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1175E-281B-5E40-B1F5-D065BEB2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B7AC8-FD5A-0A41-8B1C-BA0E0CEE1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8676-B600-1E42-9774-C49DC1345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231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DE855-458C-894B-B5E7-C36588EDE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DAABCF-7671-9644-A98E-8EA6C20688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AEE5EA-1734-1B4C-B1A4-90401242ED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A7D03-70B4-0F49-9C1F-67B809380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9CF2-E7FB-5244-BEB6-DA26166E2094}" type="datetimeFigureOut">
              <a:rPr lang="en-US" smtClean="0"/>
              <a:t>2/27/19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9C8838-E421-9B48-97F1-10C39F916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C64FC1-7FD6-DE46-85BE-2140E6BDB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8676-B600-1E42-9774-C49DC1345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49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C6DC2-F3DB-9B45-9BC1-CDE0C3335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9B8A4F-2C67-FC4D-83ED-6510F5EE3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DA703-656C-9E40-830B-387F2ABD7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9CF2-E7FB-5244-BEB6-DA26166E2094}" type="datetimeFigureOut">
              <a:rPr lang="en-US" smtClean="0"/>
              <a:t>2/27/19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25687-90A8-A744-9ED3-2E07F7447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D37BB-3A7F-1645-8D11-CDE197EC5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8676-B600-1E42-9774-C49DC1345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446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C2788E-0552-4A41-A5C1-E88EE20E90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C03352-2F84-A746-A2D4-E489836C09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4C22B-7FC0-4345-B255-48D7706F7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39CF2-E7FB-5244-BEB6-DA26166E2094}" type="datetimeFigureOut">
              <a:rPr lang="en-US" smtClean="0"/>
              <a:t>2/27/19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72D1-24F6-F045-9F9B-F89666E04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AA2FE-0954-344C-90E4-C211EF571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C8676-B600-1E42-9774-C49DC1345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39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22931C-3D67-5F43-AC48-31A0D9A4C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0460B-D080-FE46-8D08-6A117C67D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8788A-B316-8C4D-B5D0-53F36D7583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639CF2-E7FB-5244-BEB6-DA26166E2094}" type="datetimeFigureOut">
              <a:rPr lang="en-US" smtClean="0"/>
              <a:t>2/27/19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A87B2-168D-9940-905C-FFBE5AC4A8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C6AD7-FC37-3A47-AEDB-9600A1FEE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5C8676-B600-1E42-9774-C49DC1345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40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583DE466-95B9-EB49-AB1B-7E12C038BE5D}"/>
              </a:ext>
            </a:extLst>
          </p:cNvPr>
          <p:cNvGrpSpPr/>
          <p:nvPr/>
        </p:nvGrpSpPr>
        <p:grpSpPr>
          <a:xfrm>
            <a:off x="316523" y="1045027"/>
            <a:ext cx="11558954" cy="2142811"/>
            <a:chOff x="316523" y="1045027"/>
            <a:chExt cx="11558954" cy="2142811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7370BC13-C7D8-B345-BBF8-A1767A3E8EFF}"/>
                </a:ext>
              </a:extLst>
            </p:cNvPr>
            <p:cNvSpPr/>
            <p:nvPr/>
          </p:nvSpPr>
          <p:spPr>
            <a:xfrm>
              <a:off x="1776884" y="1045027"/>
              <a:ext cx="2574053" cy="663191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Tx/>
                <a:buChar char="-"/>
              </a:pPr>
              <a:r>
                <a:rPr lang="en-US" dirty="0">
                  <a:solidFill>
                    <a:schemeClr val="tx1"/>
                  </a:solidFill>
                  <a:latin typeface="Myriad Pro" panose="020B0503030403020204" pitchFamily="34" charset="0"/>
                </a:rPr>
                <a:t>24 play football</a:t>
              </a:r>
            </a:p>
            <a:p>
              <a:pPr marL="285750" indent="-285750">
                <a:buFontTx/>
                <a:buChar char="-"/>
              </a:pPr>
              <a:r>
                <a:rPr lang="en-US" dirty="0">
                  <a:solidFill>
                    <a:schemeClr val="tx1"/>
                  </a:solidFill>
                  <a:latin typeface="Myriad Pro" panose="020B0503030403020204" pitchFamily="34" charset="0"/>
                </a:rPr>
                <a:t>17 don’t play football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A09F8FA-2D06-934F-B762-56094B9C4897}"/>
                </a:ext>
              </a:extLst>
            </p:cNvPr>
            <p:cNvGrpSpPr/>
            <p:nvPr/>
          </p:nvGrpSpPr>
          <p:grpSpPr>
            <a:xfrm>
              <a:off x="316523" y="2524647"/>
              <a:ext cx="5494775" cy="663191"/>
              <a:chOff x="316523" y="2233245"/>
              <a:chExt cx="5494775" cy="663191"/>
            </a:xfrm>
          </p:grpSpPr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CF2E4FAB-1E0B-E842-B20B-7C34ABF44F7E}"/>
                  </a:ext>
                </a:extLst>
              </p:cNvPr>
              <p:cNvSpPr/>
              <p:nvPr/>
            </p:nvSpPr>
            <p:spPr>
              <a:xfrm>
                <a:off x="316523" y="2233245"/>
                <a:ext cx="2574053" cy="663191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tx1"/>
                    </a:solidFill>
                    <a:latin typeface="Myriad Pro" panose="020B0503030403020204" pitchFamily="34" charset="0"/>
                  </a:rPr>
                  <a:t>21 play football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tx1"/>
                    </a:solidFill>
                    <a:latin typeface="Myriad Pro" panose="020B0503030403020204" pitchFamily="34" charset="0"/>
                  </a:rPr>
                  <a:t>3 don’t play football</a:t>
                </a:r>
              </a:p>
            </p:txBody>
          </p:sp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D05B26E1-D45D-DA4D-91F6-3D8E6D05CA2F}"/>
                  </a:ext>
                </a:extLst>
              </p:cNvPr>
              <p:cNvSpPr/>
              <p:nvPr/>
            </p:nvSpPr>
            <p:spPr>
              <a:xfrm>
                <a:off x="3237245" y="2233245"/>
                <a:ext cx="2574053" cy="663191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tx1"/>
                    </a:solidFill>
                    <a:latin typeface="Myriad Pro" panose="020B0503030403020204" pitchFamily="34" charset="0"/>
                  </a:rPr>
                  <a:t>3 play football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tx1"/>
                    </a:solidFill>
                    <a:latin typeface="Myriad Pro" panose="020B0503030403020204" pitchFamily="34" charset="0"/>
                  </a:rPr>
                  <a:t>14 don’t play football</a:t>
                </a:r>
              </a:p>
            </p:txBody>
          </p:sp>
        </p:grp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DB0F3591-75E5-2547-A194-DE09DB2A942F}"/>
                </a:ext>
              </a:extLst>
            </p:cNvPr>
            <p:cNvSpPr/>
            <p:nvPr/>
          </p:nvSpPr>
          <p:spPr>
            <a:xfrm>
              <a:off x="7841063" y="1045027"/>
              <a:ext cx="2574053" cy="663191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Tx/>
                <a:buChar char="-"/>
              </a:pPr>
              <a:r>
                <a:rPr lang="en-US" dirty="0">
                  <a:solidFill>
                    <a:schemeClr val="tx1"/>
                  </a:solidFill>
                  <a:latin typeface="Myriad Pro" panose="020B0503030403020204" pitchFamily="34" charset="0"/>
                </a:rPr>
                <a:t>24 play football</a:t>
              </a:r>
            </a:p>
            <a:p>
              <a:pPr marL="285750" indent="-285750">
                <a:buFontTx/>
                <a:buChar char="-"/>
              </a:pPr>
              <a:r>
                <a:rPr lang="en-US" dirty="0">
                  <a:solidFill>
                    <a:schemeClr val="tx1"/>
                  </a:solidFill>
                  <a:latin typeface="Myriad Pro" panose="020B0503030403020204" pitchFamily="34" charset="0"/>
                </a:rPr>
                <a:t>17 don’t play football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4501DD0-E764-9942-9A46-3AB32FF38AE3}"/>
                </a:ext>
              </a:extLst>
            </p:cNvPr>
            <p:cNvGrpSpPr/>
            <p:nvPr/>
          </p:nvGrpSpPr>
          <p:grpSpPr>
            <a:xfrm>
              <a:off x="6380702" y="2524646"/>
              <a:ext cx="5494775" cy="663191"/>
              <a:chOff x="6380702" y="2233245"/>
              <a:chExt cx="5494775" cy="663191"/>
            </a:xfrm>
          </p:grpSpPr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C7E9F910-5E55-1E48-ABFE-0F8EA4405C9F}"/>
                  </a:ext>
                </a:extLst>
              </p:cNvPr>
              <p:cNvSpPr/>
              <p:nvPr/>
            </p:nvSpPr>
            <p:spPr>
              <a:xfrm>
                <a:off x="6380702" y="2233245"/>
                <a:ext cx="2574053" cy="663191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tx1"/>
                    </a:solidFill>
                    <a:latin typeface="Myriad Pro" panose="020B0503030403020204" pitchFamily="34" charset="0"/>
                  </a:rPr>
                  <a:t>13 play football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tx1"/>
                    </a:solidFill>
                    <a:latin typeface="Myriad Pro" panose="020B0503030403020204" pitchFamily="34" charset="0"/>
                  </a:rPr>
                  <a:t>9 don’t play football</a:t>
                </a: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29CC4EC4-782D-5F49-B73F-05D0929E1BC3}"/>
                  </a:ext>
                </a:extLst>
              </p:cNvPr>
              <p:cNvSpPr/>
              <p:nvPr/>
            </p:nvSpPr>
            <p:spPr>
              <a:xfrm>
                <a:off x="9301424" y="2233245"/>
                <a:ext cx="2574053" cy="663191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tx1"/>
                    </a:solidFill>
                    <a:latin typeface="Myriad Pro" panose="020B0503030403020204" pitchFamily="34" charset="0"/>
                  </a:rPr>
                  <a:t>11 play football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tx1"/>
                    </a:solidFill>
                    <a:latin typeface="Myriad Pro" panose="020B0503030403020204" pitchFamily="34" charset="0"/>
                  </a:rPr>
                  <a:t>8 don’t play football</a:t>
                </a:r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C62C8E5-E031-4644-B6B4-7BC9B6C4195F}"/>
                </a:ext>
              </a:extLst>
            </p:cNvPr>
            <p:cNvCxnSpPr>
              <a:stCxn id="4" idx="2"/>
              <a:endCxn id="5" idx="0"/>
            </p:cNvCxnSpPr>
            <p:nvPr/>
          </p:nvCxnSpPr>
          <p:spPr>
            <a:xfrm flipH="1">
              <a:off x="1603550" y="1708218"/>
              <a:ext cx="1460361" cy="816429"/>
            </a:xfrm>
            <a:prstGeom prst="straightConnector1">
              <a:avLst/>
            </a:prstGeom>
            <a:ln w="38100">
              <a:solidFill>
                <a:schemeClr val="accent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2855BE7-F4FA-564B-8ACA-DF047D08EFB1}"/>
                </a:ext>
              </a:extLst>
            </p:cNvPr>
            <p:cNvCxnSpPr>
              <a:cxnSpLocks/>
              <a:stCxn id="4" idx="2"/>
              <a:endCxn id="6" idx="0"/>
            </p:cNvCxnSpPr>
            <p:nvPr/>
          </p:nvCxnSpPr>
          <p:spPr>
            <a:xfrm>
              <a:off x="3063911" y="1708218"/>
              <a:ext cx="1460361" cy="816429"/>
            </a:xfrm>
            <a:prstGeom prst="straightConnector1">
              <a:avLst/>
            </a:prstGeom>
            <a:ln w="38100">
              <a:solidFill>
                <a:schemeClr val="accent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F75936A-4003-8E42-90CB-5A2F49C682A4}"/>
                </a:ext>
              </a:extLst>
            </p:cNvPr>
            <p:cNvSpPr txBox="1"/>
            <p:nvPr/>
          </p:nvSpPr>
          <p:spPr>
            <a:xfrm>
              <a:off x="316523" y="2155314"/>
              <a:ext cx="6190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Myriad Pro" panose="020B0503030403020204" pitchFamily="34" charset="0"/>
                </a:rPr>
                <a:t>Men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9AC4226-4F29-7C46-B6D9-124B7F3A83AA}"/>
                </a:ext>
              </a:extLst>
            </p:cNvPr>
            <p:cNvSpPr txBox="1"/>
            <p:nvPr/>
          </p:nvSpPr>
          <p:spPr>
            <a:xfrm>
              <a:off x="4871762" y="2155314"/>
              <a:ext cx="9428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Myriad Pro" panose="020B0503030403020204" pitchFamily="34" charset="0"/>
                </a:rPr>
                <a:t>Women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F54E292-66EA-BE40-B444-31DEBCCBD353}"/>
                </a:ext>
              </a:extLst>
            </p:cNvPr>
            <p:cNvSpPr txBox="1"/>
            <p:nvPr/>
          </p:nvSpPr>
          <p:spPr>
            <a:xfrm>
              <a:off x="6377351" y="2155314"/>
              <a:ext cx="11416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Myriad Pro" panose="020B0503030403020204" pitchFamily="34" charset="0"/>
                </a:rPr>
                <a:t>Own a car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B9A7203-73D5-3A47-BACA-E601EE02865E}"/>
                </a:ext>
              </a:extLst>
            </p:cNvPr>
            <p:cNvSpPr txBox="1"/>
            <p:nvPr/>
          </p:nvSpPr>
          <p:spPr>
            <a:xfrm>
              <a:off x="10765878" y="1878315"/>
              <a:ext cx="110959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>
                  <a:latin typeface="Myriad Pro" panose="020B0503030403020204" pitchFamily="34" charset="0"/>
                </a:rPr>
                <a:t>Do not </a:t>
              </a:r>
            </a:p>
            <a:p>
              <a:pPr algn="r"/>
              <a:r>
                <a:rPr lang="en-US" dirty="0">
                  <a:latin typeface="Myriad Pro" panose="020B0503030403020204" pitchFamily="34" charset="0"/>
                </a:rPr>
                <a:t>own a car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FD0BD9C-C283-A14E-897E-6EB907E87A20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>
            <a:xfrm flipH="1">
              <a:off x="7667729" y="1708218"/>
              <a:ext cx="1460361" cy="816428"/>
            </a:xfrm>
            <a:prstGeom prst="straightConnector1">
              <a:avLst/>
            </a:prstGeom>
            <a:ln w="38100">
              <a:solidFill>
                <a:schemeClr val="accent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6BB1DC4-3778-9049-91D4-4CF3715C5987}"/>
                </a:ext>
              </a:extLst>
            </p:cNvPr>
            <p:cNvCxnSpPr>
              <a:cxnSpLocks/>
              <a:stCxn id="7" idx="2"/>
              <a:endCxn id="9" idx="0"/>
            </p:cNvCxnSpPr>
            <p:nvPr/>
          </p:nvCxnSpPr>
          <p:spPr>
            <a:xfrm>
              <a:off x="9128090" y="1708218"/>
              <a:ext cx="1460361" cy="816428"/>
            </a:xfrm>
            <a:prstGeom prst="straightConnector1">
              <a:avLst/>
            </a:prstGeom>
            <a:ln w="38100">
              <a:solidFill>
                <a:schemeClr val="accent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15975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7BA4B81CFD7F47A0BDCF1CCBA79139" ma:contentTypeVersion="22" ma:contentTypeDescription="Create a new document." ma:contentTypeScope="" ma:versionID="ed502d4c669923dd69bfc45312c0fc95">
  <xsd:schema xmlns:xsd="http://www.w3.org/2001/XMLSchema" xmlns:xs="http://www.w3.org/2001/XMLSchema" xmlns:p="http://schemas.microsoft.com/office/2006/metadata/properties" xmlns:ns1="http://schemas.microsoft.com/sharepoint/v3" xmlns:ns2="06f3805b-6bb0-4474-b31b-232bfa6c35c5" xmlns:ns3="a7207868-4c20-40d5-af67-e5a7fc1dbea2" targetNamespace="http://schemas.microsoft.com/office/2006/metadata/properties" ma:root="true" ma:fieldsID="0230c34cb77882a2aa520038cae5fd7c" ns1:_="" ns2:_="" ns3:_="">
    <xsd:import namespace="http://schemas.microsoft.com/sharepoint/v3"/>
    <xsd:import namespace="06f3805b-6bb0-4474-b31b-232bfa6c35c5"/>
    <xsd:import namespace="a7207868-4c20-40d5-af67-e5a7fc1dbe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Your_x0020_Email_x0020__x0028_optional_x0029_" minOccurs="0"/>
                <xsd:element ref="ns2:Goal_x0020_1_x0020__x201c_Make_x0020_stories_x0020_that_x0020_highlight_x0020_value_x0020_from_x0020_data_x002d_driven_x0020_insight_x201d__x0020_was_x0020_discussed"/>
                <xsd:element ref="ns2:Goal_x0020_1_x0020__x201c_Use_x0020_PivotTables_x0020_and_x0020_Functions_x0020_effectively_x0020_to_x0020_summarize_x0020_and_x0020_augment_x0020_data_x0020_in_x0020_Microsoft_x0020_Excel_x0022__x0020_was_x0020_discussed_x002e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f3805b-6bb0-4474-b31b-232bfa6c35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f1787c4d-16fa-4d45-ab7a-24e24eaad0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Your_x0020_Email_x0020__x0028_optional_x0029_" ma:index="27" nillable="true" ma:displayName="Your Email (optional)" ma:internalName="Your_x0020_Email_x0020__x0028_optional_x0029_">
      <xsd:simpleType>
        <xsd:restriction base="dms:Text">
          <xsd:maxLength value="255"/>
        </xsd:restriction>
      </xsd:simpleType>
    </xsd:element>
    <xsd:element name="Goal_x0020_1_x0020__x201c_Make_x0020_stories_x0020_that_x0020_highlight_x0020_value_x0020_from_x0020_data_x002d_driven_x0020_insight_x201d__x0020_was_x0020_discussed" ma:index="28" ma:displayName="Goal 1 “Make stories that highlight value from data-driven insight” was discussed" ma:format="Dropdown" ma:internalName="Goal_x0020_1_x0020__x201c_Make_x0020_stories_x0020_that_x0020_highlight_x0020_value_x0020_from_x0020_data_x002d_driven_x0020_insight_x201d__x0020_was_x0020_discussed">
      <xsd:simpleType>
        <xsd:restriction base="dms:Choice">
          <xsd:enumeration value="Not At All"/>
          <xsd:enumeration value="Briefly"/>
          <xsd:enumeration value="Adequately For A Basic Understanding"/>
          <xsd:enumeration value="In Depth"/>
          <xsd:enumeration value="Comprehensively with relevant examples"/>
        </xsd:restriction>
      </xsd:simpleType>
    </xsd:element>
    <xsd:element name="Goal_x0020_1_x0020__x201c_Use_x0020_PivotTables_x0020_and_x0020_Functions_x0020_effectively_x0020_to_x0020_summarize_x0020_and_x0020_augment_x0020_data_x0020_in_x0020_Microsoft_x0020_Excel_x0022__x0020_was_x0020_discussed_x002e_" ma:index="29" nillable="true" ma:displayName="Goal 1 “Use PivotTables and Functions effectively to summarize and augment data in Microsoft Excel&quot; was discussed." ma:internalName="Goal_x0020_1_x0020__x201c_Use_x0020_PivotTables_x0020_and_x0020_Functions_x0020_effectively_x0020_to_x0020_summarize_x0020_and_x0020_augment_x0020_data_x0020_in_x0020_Microsoft_x0020_Excel_x0022__x0020_was_x0020_discussed_x002e_">
      <xsd:simpleType>
        <xsd:restriction base="dms:Number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207868-4c20-40d5-af67-e5a7fc1dbea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e071feff-0880-4499-b216-765292bf4b81}" ma:internalName="TaxCatchAll" ma:showField="CatchAllData" ma:web="a7207868-4c20-40d5-af67-e5a7fc1dbea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06f3805b-6bb0-4474-b31b-232bfa6c35c5">
      <Terms xmlns="http://schemas.microsoft.com/office/infopath/2007/PartnerControls"/>
    </lcf76f155ced4ddcb4097134ff3c332f>
    <TaxCatchAll xmlns="a7207868-4c20-40d5-af67-e5a7fc1dbea2" xsi:nil="true"/>
    <Goal_x0020_1_x0020__x201c_Use_x0020_PivotTables_x0020_and_x0020_Functions_x0020_effectively_x0020_to_x0020_summarize_x0020_and_x0020_augment_x0020_data_x0020_in_x0020_Microsoft_x0020_Excel_x0022__x0020_was_x0020_discussed_x002e_ xmlns="06f3805b-6bb0-4474-b31b-232bfa6c35c5">5</Goal_x0020_1_x0020__x201c_Use_x0020_PivotTables_x0020_and_x0020_Functions_x0020_effectively_x0020_to_x0020_summarize_x0020_and_x0020_augment_x0020_data_x0020_in_x0020_Microsoft_x0020_Excel_x0022__x0020_was_x0020_discussed_x002e_>
    <Your_x0020_Email_x0020__x0028_optional_x0029_ xmlns="06f3805b-6bb0-4474-b31b-232bfa6c35c5">0</Your_x0020_Email_x0020__x0028_optional_x0029_>
    <Goal_x0020_1_x0020__x201c_Make_x0020_stories_x0020_that_x0020_highlight_x0020_value_x0020_from_x0020_data_x002d_driven_x0020_insight_x201d__x0020_was_x0020_discussed xmlns="06f3805b-6bb0-4474-b31b-232bfa6c35c5">Briefly</Goal_x0020_1_x0020__x201c_Make_x0020_stories_x0020_that_x0020_highlight_x0020_value_x0020_from_x0020_data_x002d_driven_x0020_insight_x201d__x0020_was_x0020_discussed>
  </documentManagement>
</p:properties>
</file>

<file path=customXml/itemProps1.xml><?xml version="1.0" encoding="utf-8"?>
<ds:datastoreItem xmlns:ds="http://schemas.openxmlformats.org/officeDocument/2006/customXml" ds:itemID="{94BFACDB-6AB7-4DD6-B648-FB862AE940A0}"/>
</file>

<file path=customXml/itemProps2.xml><?xml version="1.0" encoding="utf-8"?>
<ds:datastoreItem xmlns:ds="http://schemas.openxmlformats.org/officeDocument/2006/customXml" ds:itemID="{38CD048C-29BF-4BC7-92B2-4C5C30D13465}"/>
</file>

<file path=customXml/itemProps3.xml><?xml version="1.0" encoding="utf-8"?>
<ds:datastoreItem xmlns:ds="http://schemas.openxmlformats.org/officeDocument/2006/customXml" ds:itemID="{B511A946-3E4A-4612-B00A-89625A356AD6}"/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</Words>
  <Application>Microsoft Macintosh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Myriad Pro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 Paul Sauer</dc:creator>
  <cp:lastModifiedBy>Jan Paul Sauer</cp:lastModifiedBy>
  <cp:revision>3</cp:revision>
  <dcterms:created xsi:type="dcterms:W3CDTF">2019-02-27T04:45:19Z</dcterms:created>
  <dcterms:modified xsi:type="dcterms:W3CDTF">2019-02-27T04:56:20Z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0x010100667BA4B81CFD7F47A0BDCF1CCBA79139</vt:lpwstr>
  </property>
  <property fmtid="{D5CDD505-2E9C-101B-9397-08002B2CF9AE}" pid="3" name="MediaServiceImageTags">
    <vt:lpwstr/>
  </property>
</Properties>
</file>